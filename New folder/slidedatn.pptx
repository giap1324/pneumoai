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8" r:id="rId3"/>
    <p:sldId id="271" r:id="rId4"/>
    <p:sldId id="274" r:id="rId5"/>
    <p:sldId id="275" r:id="rId6"/>
    <p:sldId id="273" r:id="rId7"/>
    <p:sldId id="276" r:id="rId8"/>
    <p:sldId id="277" r:id="rId9"/>
    <p:sldId id="278" r:id="rId10"/>
    <p:sldId id="279" r:id="rId11"/>
    <p:sldId id="280" r:id="rId12"/>
    <p:sldId id="282" r:id="rId13"/>
    <p:sldId id="260" r:id="rId14"/>
  </p:sldIdLst>
  <p:sldSz cx="21315363" cy="13322300"/>
  <p:notesSz cx="6858000" cy="9144000"/>
  <p:defaultTextStyle>
    <a:defPPr>
      <a:defRPr lang="en-US"/>
    </a:defPPr>
    <a:lvl1pPr marL="0" algn="l" defTabSz="989609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1pPr>
    <a:lvl2pPr marL="989609" algn="l" defTabSz="989609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2pPr>
    <a:lvl3pPr marL="1979219" algn="l" defTabSz="989609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3pPr>
    <a:lvl4pPr marL="2968828" algn="l" defTabSz="989609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4pPr>
    <a:lvl5pPr marL="3958438" algn="l" defTabSz="989609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5pPr>
    <a:lvl6pPr marL="4948047" algn="l" defTabSz="989609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6pPr>
    <a:lvl7pPr marL="5937656" algn="l" defTabSz="989609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7pPr>
    <a:lvl8pPr marL="6927266" algn="l" defTabSz="989609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8pPr>
    <a:lvl9pPr marL="7916875" algn="l" defTabSz="989609" rtl="0" eaLnBrk="1" latinLnBrk="0" hangingPunct="1">
      <a:defRPr sz="3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96">
          <p15:clr>
            <a:srgbClr val="A4A3A4"/>
          </p15:clr>
        </p15:guide>
        <p15:guide id="2" pos="67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1085" y="72"/>
      </p:cViewPr>
      <p:guideLst>
        <p:guide orient="horz" pos="4196"/>
        <p:guide pos="67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8652" y="4138549"/>
            <a:ext cx="18118059" cy="28556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7305" y="7549303"/>
            <a:ext cx="14920754" cy="34045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89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979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968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958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948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9376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927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916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31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800" y="311468"/>
            <a:ext cx="19183827" cy="222038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4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3767" y="8560812"/>
            <a:ext cx="18118059" cy="2645957"/>
          </a:xfrm>
        </p:spPr>
        <p:txBody>
          <a:bodyPr anchor="t"/>
          <a:lstStyle>
            <a:lvl1pPr algn="l">
              <a:defRPr sz="8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3767" y="5646560"/>
            <a:ext cx="18118059" cy="2914252"/>
          </a:xfrm>
        </p:spPr>
        <p:txBody>
          <a:bodyPr anchor="b"/>
          <a:lstStyle>
            <a:lvl1pPr marL="0" indent="0">
              <a:buNone/>
              <a:defRPr sz="4300">
                <a:solidFill>
                  <a:schemeClr val="tx1">
                    <a:tint val="75000"/>
                  </a:schemeClr>
                </a:solidFill>
              </a:defRPr>
            </a:lvl1pPr>
            <a:lvl2pPr marL="989609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2pPr>
            <a:lvl3pPr marL="1979219" indent="0"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3pPr>
            <a:lvl4pPr marL="2968828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4pPr>
            <a:lvl5pPr marL="3958438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5pPr>
            <a:lvl6pPr marL="4948047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6pPr>
            <a:lvl7pPr marL="5937656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7pPr>
            <a:lvl8pPr marL="6927266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8pPr>
            <a:lvl9pPr marL="7916875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2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768" y="3108538"/>
            <a:ext cx="9414285" cy="8792102"/>
          </a:xfrm>
        </p:spPr>
        <p:txBody>
          <a:bodyPr/>
          <a:lstStyle>
            <a:lvl1pPr>
              <a:defRPr sz="6100"/>
            </a:lvl1pPr>
            <a:lvl2pPr>
              <a:defRPr sz="5200"/>
            </a:lvl2pPr>
            <a:lvl3pPr>
              <a:defRPr sz="43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35310" y="3108538"/>
            <a:ext cx="9414285" cy="8792102"/>
          </a:xfrm>
        </p:spPr>
        <p:txBody>
          <a:bodyPr/>
          <a:lstStyle>
            <a:lvl1pPr>
              <a:defRPr sz="6100"/>
            </a:lvl1pPr>
            <a:lvl2pPr>
              <a:defRPr sz="5200"/>
            </a:lvl2pPr>
            <a:lvl3pPr>
              <a:defRPr sz="43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9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768" y="2982099"/>
            <a:ext cx="9417987" cy="1242797"/>
          </a:xfrm>
        </p:spPr>
        <p:txBody>
          <a:bodyPr anchor="b"/>
          <a:lstStyle>
            <a:lvl1pPr marL="0" indent="0">
              <a:buNone/>
              <a:defRPr sz="5200" b="1"/>
            </a:lvl1pPr>
            <a:lvl2pPr marL="989609" indent="0">
              <a:buNone/>
              <a:defRPr sz="4300" b="1"/>
            </a:lvl2pPr>
            <a:lvl3pPr marL="1979219" indent="0">
              <a:buNone/>
              <a:defRPr sz="3900" b="1"/>
            </a:lvl3pPr>
            <a:lvl4pPr marL="2968828" indent="0">
              <a:buNone/>
              <a:defRPr sz="3500" b="1"/>
            </a:lvl4pPr>
            <a:lvl5pPr marL="3958438" indent="0">
              <a:buNone/>
              <a:defRPr sz="3500" b="1"/>
            </a:lvl5pPr>
            <a:lvl6pPr marL="4948047" indent="0">
              <a:buNone/>
              <a:defRPr sz="3500" b="1"/>
            </a:lvl6pPr>
            <a:lvl7pPr marL="5937656" indent="0">
              <a:buNone/>
              <a:defRPr sz="3500" b="1"/>
            </a:lvl7pPr>
            <a:lvl8pPr marL="6927266" indent="0">
              <a:buNone/>
              <a:defRPr sz="3500" b="1"/>
            </a:lvl8pPr>
            <a:lvl9pPr marL="7916875" indent="0">
              <a:buNone/>
              <a:defRPr sz="3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768" y="4224896"/>
            <a:ext cx="9417987" cy="7675743"/>
          </a:xfrm>
        </p:spPr>
        <p:txBody>
          <a:bodyPr/>
          <a:lstStyle>
            <a:lvl1pPr>
              <a:defRPr sz="5200"/>
            </a:lvl1pPr>
            <a:lvl2pPr>
              <a:defRPr sz="43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7910" y="2982099"/>
            <a:ext cx="9421686" cy="1242797"/>
          </a:xfrm>
        </p:spPr>
        <p:txBody>
          <a:bodyPr anchor="b"/>
          <a:lstStyle>
            <a:lvl1pPr marL="0" indent="0">
              <a:buNone/>
              <a:defRPr sz="5200" b="1"/>
            </a:lvl1pPr>
            <a:lvl2pPr marL="989609" indent="0">
              <a:buNone/>
              <a:defRPr sz="4300" b="1"/>
            </a:lvl2pPr>
            <a:lvl3pPr marL="1979219" indent="0">
              <a:buNone/>
              <a:defRPr sz="3900" b="1"/>
            </a:lvl3pPr>
            <a:lvl4pPr marL="2968828" indent="0">
              <a:buNone/>
              <a:defRPr sz="3500" b="1"/>
            </a:lvl4pPr>
            <a:lvl5pPr marL="3958438" indent="0">
              <a:buNone/>
              <a:defRPr sz="3500" b="1"/>
            </a:lvl5pPr>
            <a:lvl6pPr marL="4948047" indent="0">
              <a:buNone/>
              <a:defRPr sz="3500" b="1"/>
            </a:lvl6pPr>
            <a:lvl7pPr marL="5937656" indent="0">
              <a:buNone/>
              <a:defRPr sz="3500" b="1"/>
            </a:lvl7pPr>
            <a:lvl8pPr marL="6927266" indent="0">
              <a:buNone/>
              <a:defRPr sz="3500" b="1"/>
            </a:lvl8pPr>
            <a:lvl9pPr marL="7916875" indent="0">
              <a:buNone/>
              <a:defRPr sz="3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7910" y="4224896"/>
            <a:ext cx="9421686" cy="7675743"/>
          </a:xfrm>
        </p:spPr>
        <p:txBody>
          <a:bodyPr/>
          <a:lstStyle>
            <a:lvl1pPr>
              <a:defRPr sz="5200"/>
            </a:lvl1pPr>
            <a:lvl2pPr>
              <a:defRPr sz="43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5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5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19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769" y="530425"/>
            <a:ext cx="7012608" cy="2257390"/>
          </a:xfrm>
        </p:spPr>
        <p:txBody>
          <a:bodyPr anchor="b"/>
          <a:lstStyle>
            <a:lvl1pPr algn="l">
              <a:defRPr sz="4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15" y="530426"/>
            <a:ext cx="11915880" cy="11370214"/>
          </a:xfrm>
        </p:spPr>
        <p:txBody>
          <a:bodyPr/>
          <a:lstStyle>
            <a:lvl1pPr>
              <a:defRPr sz="6900"/>
            </a:lvl1pPr>
            <a:lvl2pPr>
              <a:defRPr sz="6100"/>
            </a:lvl2pPr>
            <a:lvl3pPr>
              <a:defRPr sz="5200"/>
            </a:lvl3pPr>
            <a:lvl4pPr>
              <a:defRPr sz="4300"/>
            </a:lvl4pPr>
            <a:lvl5pPr>
              <a:defRPr sz="4300"/>
            </a:lvl5pPr>
            <a:lvl6pPr>
              <a:defRPr sz="4300"/>
            </a:lvl6pPr>
            <a:lvl7pPr>
              <a:defRPr sz="4300"/>
            </a:lvl7pPr>
            <a:lvl8pPr>
              <a:defRPr sz="4300"/>
            </a:lvl8pPr>
            <a:lvl9pPr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769" y="2787816"/>
            <a:ext cx="7012608" cy="9112824"/>
          </a:xfrm>
        </p:spPr>
        <p:txBody>
          <a:bodyPr/>
          <a:lstStyle>
            <a:lvl1pPr marL="0" indent="0">
              <a:buNone/>
              <a:defRPr sz="3000"/>
            </a:lvl1pPr>
            <a:lvl2pPr marL="989609" indent="0">
              <a:buNone/>
              <a:defRPr sz="2600"/>
            </a:lvl2pPr>
            <a:lvl3pPr marL="1979219" indent="0">
              <a:buNone/>
              <a:defRPr sz="2200"/>
            </a:lvl3pPr>
            <a:lvl4pPr marL="2968828" indent="0">
              <a:buNone/>
              <a:defRPr sz="1900"/>
            </a:lvl4pPr>
            <a:lvl5pPr marL="3958438" indent="0">
              <a:buNone/>
              <a:defRPr sz="1900"/>
            </a:lvl5pPr>
            <a:lvl6pPr marL="4948047" indent="0">
              <a:buNone/>
              <a:defRPr sz="1900"/>
            </a:lvl6pPr>
            <a:lvl7pPr marL="5937656" indent="0">
              <a:buNone/>
              <a:defRPr sz="1900"/>
            </a:lvl7pPr>
            <a:lvl8pPr marL="6927266" indent="0">
              <a:buNone/>
              <a:defRPr sz="1900"/>
            </a:lvl8pPr>
            <a:lvl9pPr marL="7916875" indent="0">
              <a:buNone/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49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7960" y="9325610"/>
            <a:ext cx="12789218" cy="1100941"/>
          </a:xfrm>
        </p:spPr>
        <p:txBody>
          <a:bodyPr anchor="b"/>
          <a:lstStyle>
            <a:lvl1pPr algn="l">
              <a:defRPr sz="4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77960" y="1190372"/>
            <a:ext cx="12789218" cy="7993380"/>
          </a:xfrm>
        </p:spPr>
        <p:txBody>
          <a:bodyPr/>
          <a:lstStyle>
            <a:lvl1pPr marL="0" indent="0">
              <a:buNone/>
              <a:defRPr sz="6900"/>
            </a:lvl1pPr>
            <a:lvl2pPr marL="989609" indent="0">
              <a:buNone/>
              <a:defRPr sz="6100"/>
            </a:lvl2pPr>
            <a:lvl3pPr marL="1979219" indent="0">
              <a:buNone/>
              <a:defRPr sz="5200"/>
            </a:lvl3pPr>
            <a:lvl4pPr marL="2968828" indent="0">
              <a:buNone/>
              <a:defRPr sz="4300"/>
            </a:lvl4pPr>
            <a:lvl5pPr marL="3958438" indent="0">
              <a:buNone/>
              <a:defRPr sz="4300"/>
            </a:lvl5pPr>
            <a:lvl6pPr marL="4948047" indent="0">
              <a:buNone/>
              <a:defRPr sz="4300"/>
            </a:lvl6pPr>
            <a:lvl7pPr marL="5937656" indent="0">
              <a:buNone/>
              <a:defRPr sz="4300"/>
            </a:lvl7pPr>
            <a:lvl8pPr marL="6927266" indent="0">
              <a:buNone/>
              <a:defRPr sz="4300"/>
            </a:lvl8pPr>
            <a:lvl9pPr marL="7916875" indent="0">
              <a:buNone/>
              <a:defRPr sz="4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77960" y="10426551"/>
            <a:ext cx="12789218" cy="1563519"/>
          </a:xfrm>
        </p:spPr>
        <p:txBody>
          <a:bodyPr/>
          <a:lstStyle>
            <a:lvl1pPr marL="0" indent="0">
              <a:buNone/>
              <a:defRPr sz="3000"/>
            </a:lvl1pPr>
            <a:lvl2pPr marL="989609" indent="0">
              <a:buNone/>
              <a:defRPr sz="2600"/>
            </a:lvl2pPr>
            <a:lvl3pPr marL="1979219" indent="0">
              <a:buNone/>
              <a:defRPr sz="2200"/>
            </a:lvl3pPr>
            <a:lvl4pPr marL="2968828" indent="0">
              <a:buNone/>
              <a:defRPr sz="1900"/>
            </a:lvl4pPr>
            <a:lvl5pPr marL="3958438" indent="0">
              <a:buNone/>
              <a:defRPr sz="1900"/>
            </a:lvl5pPr>
            <a:lvl6pPr marL="4948047" indent="0">
              <a:buNone/>
              <a:defRPr sz="1900"/>
            </a:lvl6pPr>
            <a:lvl7pPr marL="5937656" indent="0">
              <a:buNone/>
              <a:defRPr sz="1900"/>
            </a:lvl7pPr>
            <a:lvl8pPr marL="6927266" indent="0">
              <a:buNone/>
              <a:defRPr sz="1900"/>
            </a:lvl8pPr>
            <a:lvl9pPr marL="7916875" indent="0">
              <a:buNone/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1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7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3638" y="533511"/>
            <a:ext cx="4795957" cy="113671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768" y="533511"/>
            <a:ext cx="14032614" cy="113671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8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15913"/>
            <a:ext cx="21315363" cy="1767658"/>
          </a:xfrm>
          <a:prstGeom prst="rect">
            <a:avLst/>
          </a:prstGeom>
        </p:spPr>
        <p:txBody>
          <a:bodyPr vert="horz" lIns="197922" tIns="98961" rIns="197922" bIns="98961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768" y="3108538"/>
            <a:ext cx="19183827" cy="8792102"/>
          </a:xfrm>
          <a:prstGeom prst="rect">
            <a:avLst/>
          </a:prstGeom>
        </p:spPr>
        <p:txBody>
          <a:bodyPr vert="horz" lIns="197922" tIns="98961" rIns="197922" bIns="98961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768" y="12347799"/>
            <a:ext cx="4973585" cy="709289"/>
          </a:xfrm>
          <a:prstGeom prst="rect">
            <a:avLst/>
          </a:prstGeom>
        </p:spPr>
        <p:txBody>
          <a:bodyPr vert="horz" lIns="197922" tIns="98961" rIns="197922" bIns="98961" rtlCol="0" anchor="ctr"/>
          <a:lstStyle>
            <a:lvl1pPr algn="l">
              <a:defRPr sz="2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9976B-D4AB-1E4C-B38E-D0AADA5FCB3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82749" y="12347799"/>
            <a:ext cx="6749865" cy="709289"/>
          </a:xfrm>
          <a:prstGeom prst="rect">
            <a:avLst/>
          </a:prstGeom>
        </p:spPr>
        <p:txBody>
          <a:bodyPr vert="horz" lIns="197922" tIns="98961" rIns="197922" bIns="98961" rtlCol="0" anchor="ctr"/>
          <a:lstStyle>
            <a:lvl1pPr algn="ctr">
              <a:defRPr sz="2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76010" y="12347799"/>
            <a:ext cx="4973585" cy="709289"/>
          </a:xfrm>
          <a:prstGeom prst="rect">
            <a:avLst/>
          </a:prstGeom>
        </p:spPr>
        <p:txBody>
          <a:bodyPr vert="horz" lIns="197922" tIns="98961" rIns="197922" bIns="98961" rtlCol="0" anchor="ctr"/>
          <a:lstStyle>
            <a:lvl1pPr algn="r">
              <a:defRPr sz="2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Dai Nam [PPT] Template 10.png">
            <a:extLst>
              <a:ext uri="{FF2B5EF4-FFF2-40B4-BE49-F238E27FC236}">
                <a16:creationId xmlns:a16="http://schemas.microsoft.com/office/drawing/2014/main" id="{D3E61C71-BCF7-D001-8FA8-E11B15E2FE1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75" y="354639"/>
            <a:ext cx="1796203" cy="1628932"/>
          </a:xfrm>
          <a:prstGeom prst="rect">
            <a:avLst/>
          </a:prstGeom>
        </p:spPr>
      </p:pic>
      <p:pic>
        <p:nvPicPr>
          <p:cNvPr id="8" name="Picture 7" descr="Dai Nam [PPT] Template 05.png">
            <a:extLst>
              <a:ext uri="{FF2B5EF4-FFF2-40B4-BE49-F238E27FC236}">
                <a16:creationId xmlns:a16="http://schemas.microsoft.com/office/drawing/2014/main" id="{5AF84EEB-6D0D-C645-194A-C1DBE9D430F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14189"/>
            <a:ext cx="21315363" cy="10109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68D644-42E3-6F2C-CD8F-BC5A5AA47DDE}"/>
              </a:ext>
            </a:extLst>
          </p:cNvPr>
          <p:cNvSpPr txBox="1"/>
          <p:nvPr userDrawn="1"/>
        </p:nvSpPr>
        <p:spPr>
          <a:xfrm>
            <a:off x="15789623" y="12558057"/>
            <a:ext cx="39463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80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428488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89609" rtl="0" eaLnBrk="1" latinLnBrk="0" hangingPunct="1">
        <a:spcBef>
          <a:spcPct val="0"/>
        </a:spcBef>
        <a:buNone/>
        <a:defRPr sz="9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42207" indent="-742207" algn="l" defTabSz="989609" rtl="0" eaLnBrk="1" latinLnBrk="0" hangingPunct="1">
        <a:spcBef>
          <a:spcPct val="20000"/>
        </a:spcBef>
        <a:buFont typeface="Arial"/>
        <a:buChar char="•"/>
        <a:defRPr sz="6900" kern="1200">
          <a:solidFill>
            <a:schemeClr val="tx1"/>
          </a:solidFill>
          <a:latin typeface="+mn-lt"/>
          <a:ea typeface="+mn-ea"/>
          <a:cs typeface="+mn-cs"/>
        </a:defRPr>
      </a:lvl1pPr>
      <a:lvl2pPr marL="1608115" indent="-618506" algn="l" defTabSz="989609" rtl="0" eaLnBrk="1" latinLnBrk="0" hangingPunct="1">
        <a:spcBef>
          <a:spcPct val="20000"/>
        </a:spcBef>
        <a:buFont typeface="Arial"/>
        <a:buChar char="–"/>
        <a:defRPr sz="6100" kern="1200">
          <a:solidFill>
            <a:schemeClr val="tx1"/>
          </a:solidFill>
          <a:latin typeface="+mn-lt"/>
          <a:ea typeface="+mn-ea"/>
          <a:cs typeface="+mn-cs"/>
        </a:defRPr>
      </a:lvl2pPr>
      <a:lvl3pPr marL="2474024" indent="-494805" algn="l" defTabSz="989609" rtl="0" eaLnBrk="1" latinLnBrk="0" hangingPunct="1">
        <a:spcBef>
          <a:spcPct val="20000"/>
        </a:spcBef>
        <a:buFont typeface="Arial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3pPr>
      <a:lvl4pPr marL="3463633" indent="-494805" algn="l" defTabSz="989609" rtl="0" eaLnBrk="1" latinLnBrk="0" hangingPunct="1">
        <a:spcBef>
          <a:spcPct val="20000"/>
        </a:spcBef>
        <a:buFont typeface="Arial"/>
        <a:buChar char="–"/>
        <a:defRPr sz="4300" kern="1200">
          <a:solidFill>
            <a:schemeClr val="tx1"/>
          </a:solidFill>
          <a:latin typeface="+mn-lt"/>
          <a:ea typeface="+mn-ea"/>
          <a:cs typeface="+mn-cs"/>
        </a:defRPr>
      </a:lvl4pPr>
      <a:lvl5pPr marL="4453242" indent="-494805" algn="l" defTabSz="989609" rtl="0" eaLnBrk="1" latinLnBrk="0" hangingPunct="1">
        <a:spcBef>
          <a:spcPct val="20000"/>
        </a:spcBef>
        <a:buFont typeface="Arial"/>
        <a:buChar char="»"/>
        <a:defRPr sz="4300" kern="1200">
          <a:solidFill>
            <a:schemeClr val="tx1"/>
          </a:solidFill>
          <a:latin typeface="+mn-lt"/>
          <a:ea typeface="+mn-ea"/>
          <a:cs typeface="+mn-cs"/>
        </a:defRPr>
      </a:lvl5pPr>
      <a:lvl6pPr marL="5442852" indent="-494805" algn="l" defTabSz="989609" rtl="0" eaLnBrk="1" latinLnBrk="0" hangingPunct="1">
        <a:spcBef>
          <a:spcPct val="20000"/>
        </a:spcBef>
        <a:buFont typeface="Arial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6pPr>
      <a:lvl7pPr marL="6432461" indent="-494805" algn="l" defTabSz="989609" rtl="0" eaLnBrk="1" latinLnBrk="0" hangingPunct="1">
        <a:spcBef>
          <a:spcPct val="20000"/>
        </a:spcBef>
        <a:buFont typeface="Arial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7pPr>
      <a:lvl8pPr marL="7422071" indent="-494805" algn="l" defTabSz="989609" rtl="0" eaLnBrk="1" latinLnBrk="0" hangingPunct="1">
        <a:spcBef>
          <a:spcPct val="20000"/>
        </a:spcBef>
        <a:buFont typeface="Arial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8pPr>
      <a:lvl9pPr marL="8411680" indent="-494805" algn="l" defTabSz="989609" rtl="0" eaLnBrk="1" latinLnBrk="0" hangingPunct="1">
        <a:spcBef>
          <a:spcPct val="20000"/>
        </a:spcBef>
        <a:buFont typeface="Arial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9609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89609" algn="l" defTabSz="989609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979219" algn="l" defTabSz="989609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3pPr>
      <a:lvl4pPr marL="2968828" algn="l" defTabSz="989609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58438" algn="l" defTabSz="989609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948047" algn="l" defTabSz="989609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937656" algn="l" defTabSz="989609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927266" algn="l" defTabSz="989609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916875" algn="l" defTabSz="989609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i Nam [PPT] Template 0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4934"/>
            <a:ext cx="21310809" cy="13322300"/>
          </a:xfrm>
          <a:prstGeom prst="rect">
            <a:avLst/>
          </a:prstGeom>
        </p:spPr>
      </p:pic>
      <p:pic>
        <p:nvPicPr>
          <p:cNvPr id="3" name="Picture 2" descr="Dai Nam [PPT] Template 0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11343"/>
            <a:ext cx="21315363" cy="1010957"/>
          </a:xfrm>
          <a:prstGeom prst="rect">
            <a:avLst/>
          </a:prstGeom>
        </p:spPr>
      </p:pic>
      <p:pic>
        <p:nvPicPr>
          <p:cNvPr id="4" name="Picture 3" descr="Dai Nam [PPT] Template 0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41235" cy="13322300"/>
          </a:xfrm>
          <a:prstGeom prst="rect">
            <a:avLst/>
          </a:prstGeom>
        </p:spPr>
      </p:pic>
      <p:pic>
        <p:nvPicPr>
          <p:cNvPr id="6" name="Picture 5" descr="Dai Nam [PPT] Template 03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"/>
            <a:ext cx="6108192" cy="12234672"/>
          </a:xfrm>
          <a:prstGeom prst="rect">
            <a:avLst/>
          </a:prstGeom>
        </p:spPr>
      </p:pic>
      <p:pic>
        <p:nvPicPr>
          <p:cNvPr id="7" name="Picture 6" descr="Dai Nam [PPT] Template 04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8740" y="1134398"/>
            <a:ext cx="3422715" cy="31061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1235" y="4953257"/>
            <a:ext cx="141272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FFFFFF"/>
                </a:solidFill>
                <a:latin typeface="Arial"/>
                <a:cs typeface="Arial"/>
              </a:rPr>
              <a:t>PHÂN LOẠI VIÊM PHỔI DỰA TRÊN HÌNH ẢNH X- QUANG SỬ DỤNG MÔ HÌNH VIT CẢI TIẾN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BC5BC-E994-40E0-8AC8-EEAC3E18C28C}"/>
              </a:ext>
            </a:extLst>
          </p:cNvPr>
          <p:cNvSpPr txBox="1"/>
          <p:nvPr/>
        </p:nvSpPr>
        <p:spPr>
          <a:xfrm>
            <a:off x="10510515" y="9509463"/>
            <a:ext cx="1080484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Người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trình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bày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Nguyễn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Đào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Nguyên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Giáp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54EC2D-792B-4046-8774-9939C2E2A93E}"/>
              </a:ext>
            </a:extLst>
          </p:cNvPr>
          <p:cNvSpPr txBox="1"/>
          <p:nvPr/>
        </p:nvSpPr>
        <p:spPr>
          <a:xfrm>
            <a:off x="10510515" y="10348013"/>
            <a:ext cx="1080484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Giảng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hướng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dẫn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ThS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Thị</a:t>
            </a:r>
            <a:r>
              <a:rPr lang="en-US" dirty="0">
                <a:solidFill>
                  <a:schemeClr val="bg1"/>
                </a:solidFill>
              </a:rPr>
              <a:t> Thanh </a:t>
            </a:r>
            <a:r>
              <a:rPr lang="en-US" dirty="0" err="1">
                <a:solidFill>
                  <a:schemeClr val="bg1"/>
                </a:solidFill>
              </a:rPr>
              <a:t>Nhàn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59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0297"/>
            <a:ext cx="21315364" cy="1010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04727" y="12547555"/>
            <a:ext cx="72409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/>
                <a:cs typeface="Arial"/>
              </a:rPr>
              <a:t>NGUYỂN ĐÀO NGUYÊN GIÁP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0567" y="12547555"/>
            <a:ext cx="3544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25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3462" y="831157"/>
            <a:ext cx="117627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FF6600"/>
                </a:solidFill>
                <a:latin typeface="Arial"/>
                <a:cs typeface="Arial"/>
              </a:rPr>
              <a:t>THÁCH THỨC TRONG CHẨN ĐOÁN</a:t>
            </a:r>
          </a:p>
          <a:p>
            <a:endParaRPr lang="en-US" sz="5000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45" y="1585221"/>
            <a:ext cx="11253216" cy="33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7D3A9B-0EB3-485E-8761-0C5B3BAC5104}"/>
              </a:ext>
            </a:extLst>
          </p:cNvPr>
          <p:cNvSpPr txBox="1"/>
          <p:nvPr/>
        </p:nvSpPr>
        <p:spPr>
          <a:xfrm>
            <a:off x="1114425" y="3438749"/>
            <a:ext cx="1205865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dirty="0"/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619A8-6B10-4426-A8A4-1EEA292A1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5824" y="4348504"/>
            <a:ext cx="7268677" cy="43756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957BC6-7D27-4132-87A8-2BA21E3BD4ED}"/>
              </a:ext>
            </a:extLst>
          </p:cNvPr>
          <p:cNvSpPr txBox="1"/>
          <p:nvPr/>
        </p:nvSpPr>
        <p:spPr>
          <a:xfrm>
            <a:off x="1424085" y="3449841"/>
            <a:ext cx="10655558" cy="705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Viêm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phổi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nguy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hiểm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vong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trẻ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Thách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Chẩn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X-quang đôi khi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gặp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rào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cản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tổn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thương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quan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khiến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bác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sĩ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dù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tận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tâm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vẫn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tránh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khỏi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thiếu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sót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tuệ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nhân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(AI)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sàng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ban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thủ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đắc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san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sẻ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gánh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nặng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mang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an tâm,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hơn.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22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0297"/>
            <a:ext cx="21315364" cy="1010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04727" y="12547555"/>
            <a:ext cx="72409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/>
                <a:cs typeface="Arial"/>
              </a:rPr>
              <a:t>NGUYỂN ĐÀO NGUYÊN GIÁP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0567" y="12547555"/>
            <a:ext cx="3544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25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3236" y="756975"/>
            <a:ext cx="1200913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FF6600"/>
                </a:solidFill>
                <a:latin typeface="Arial"/>
                <a:cs typeface="Arial"/>
              </a:rPr>
              <a:t>NGUỒN GỐC VÀ QUY MÔ DỮ LIỆU</a:t>
            </a:r>
          </a:p>
        </p:txBody>
      </p:sp>
      <p:pic>
        <p:nvPicPr>
          <p:cNvPr id="25" name="Picture 24" descr="Dai Nam [PPT] Template 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45" y="1585221"/>
            <a:ext cx="11253216" cy="335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66387F4-FE91-4B01-8489-E61AE3BA53EF}"/>
              </a:ext>
            </a:extLst>
          </p:cNvPr>
          <p:cNvSpPr txBox="1"/>
          <p:nvPr/>
        </p:nvSpPr>
        <p:spPr>
          <a:xfrm>
            <a:off x="2439572" y="2438866"/>
            <a:ext cx="16436218" cy="391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vi-VN" sz="34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vi-VN" sz="3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vi-VN" sz="3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vi-VN" sz="34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Chest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X-Ray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Pneumonia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(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tượng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họn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nhi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năm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tuổi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thu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thập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hồi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Trung tâm Y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Phụ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nữ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Trẻ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em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Quảng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Châu.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Quy mô: </a:t>
            </a:r>
            <a:r>
              <a:rPr lang="en-US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5,863</a:t>
            </a:r>
            <a:r>
              <a:rPr lang="vi-VN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nhãn</a:t>
            </a:r>
            <a:r>
              <a:rPr lang="en-US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omal</a:t>
            </a:r>
            <a:r>
              <a:rPr lang="en-US" sz="3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Pneumonia)</a:t>
            </a:r>
            <a:endParaRPr lang="vi-VN" sz="3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CF6BF3-68DD-47CB-B36D-336F7DDDC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081" y="6859202"/>
            <a:ext cx="14402500" cy="474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130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0297"/>
            <a:ext cx="21315364" cy="1010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04727" y="12547555"/>
            <a:ext cx="72409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/>
                <a:cs typeface="Arial"/>
              </a:rPr>
              <a:t>NGUYỂN ĐÀO NGUYÊN GIÁP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0567" y="12547555"/>
            <a:ext cx="3544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25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1901" y="723447"/>
            <a:ext cx="1180601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FF6600"/>
                </a:solidFill>
                <a:latin typeface="Arial"/>
                <a:cs typeface="Arial"/>
              </a:rPr>
              <a:t>LÀM SẠCH VÀ PHÂN CHIA DỮU LIỆU</a:t>
            </a:r>
            <a:endParaRPr lang="en-US" sz="5000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45" y="1585221"/>
            <a:ext cx="11253216" cy="335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C18C32-63A7-48AC-ADEB-701434DADE45}"/>
              </a:ext>
            </a:extLst>
          </p:cNvPr>
          <p:cNvSpPr txBox="1"/>
          <p:nvPr/>
        </p:nvSpPr>
        <p:spPr>
          <a:xfrm>
            <a:off x="756443" y="7705860"/>
            <a:ext cx="19802475" cy="3134704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sạch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tra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vẹn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nhị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phân,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bỏ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&lt;50px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&gt;5000px,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khung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3:1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chống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khi thu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phóng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7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hỏng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kích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thước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Chia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5849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70-20-10 (Train-Val-Test),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duy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trì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mất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(2.7:1)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chống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rò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rỉ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3BF838-1F51-432C-80AA-254E9FE4A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648" y="2488581"/>
            <a:ext cx="6309301" cy="50572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4085041-1C7D-4868-B4C7-45AEECE813C4}"/>
              </a:ext>
            </a:extLst>
          </p:cNvPr>
          <p:cNvSpPr txBox="1"/>
          <p:nvPr/>
        </p:nvSpPr>
        <p:spPr>
          <a:xfrm>
            <a:off x="9196756" y="4015973"/>
            <a:ext cx="1065847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- PNEUMONIA: 4266 </a:t>
            </a:r>
            <a:r>
              <a:rPr lang="en-US" dirty="0" err="1"/>
              <a:t>ảnh</a:t>
            </a:r>
            <a:r>
              <a:rPr lang="en-US" dirty="0"/>
              <a:t> (72.94%)</a:t>
            </a:r>
          </a:p>
          <a:p>
            <a:r>
              <a:rPr lang="en-US" dirty="0"/>
              <a:t> - NORMAL: 1583 </a:t>
            </a:r>
            <a:r>
              <a:rPr lang="en-US" dirty="0" err="1"/>
              <a:t>ảnh</a:t>
            </a:r>
            <a:r>
              <a:rPr lang="en-US" dirty="0"/>
              <a:t> (27.06%)</a:t>
            </a:r>
          </a:p>
        </p:txBody>
      </p:sp>
    </p:spTree>
    <p:extLst>
      <p:ext uri="{BB962C8B-B14F-4D97-AF65-F5344CB8AC3E}">
        <p14:creationId xmlns:p14="http://schemas.microsoft.com/office/powerpoint/2010/main" val="1187288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0297"/>
            <a:ext cx="21315364" cy="1010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04727" y="12547555"/>
            <a:ext cx="72409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/>
                <a:cs typeface="Arial"/>
              </a:rPr>
              <a:t>NGUYỂN ĐÀO NGUYÊN GIÁP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0567" y="12547555"/>
            <a:ext cx="3544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25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03596" y="653589"/>
            <a:ext cx="82230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FF6600"/>
                </a:solidFill>
                <a:latin typeface="Arial"/>
                <a:cs typeface="Arial"/>
              </a:rPr>
              <a:t>TĂNG CƯỜNG DỮ LIỆU</a:t>
            </a:r>
            <a:endParaRPr lang="en-US" sz="2400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45" y="1585221"/>
            <a:ext cx="11253216" cy="335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9185D3-2D0E-4255-BED5-FC9834F61058}"/>
              </a:ext>
            </a:extLst>
          </p:cNvPr>
          <p:cNvSpPr/>
          <p:nvPr/>
        </p:nvSpPr>
        <p:spPr>
          <a:xfrm>
            <a:off x="1257300" y="3028950"/>
            <a:ext cx="5740659" cy="691515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bg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Border Crop: </a:t>
            </a:r>
            <a:r>
              <a:rPr lang="en-US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Bỏ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viền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Xoay</a:t>
            </a:r>
            <a:r>
              <a:rPr lang="en-US" sz="3200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3200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3200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/Zoom: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Xoay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±10°,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5%,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phóng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0.9-1.1.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Lật</a:t>
            </a:r>
            <a:r>
              <a:rPr lang="en-US" sz="3200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ngang</a:t>
            </a:r>
            <a:r>
              <a:rPr lang="en-US" sz="3200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(Flip):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D4CD7E-DBEE-4DA7-B753-6955C2D530A1}"/>
              </a:ext>
            </a:extLst>
          </p:cNvPr>
          <p:cNvSpPr/>
          <p:nvPr/>
        </p:nvSpPr>
        <p:spPr>
          <a:xfrm>
            <a:off x="7900193" y="3028950"/>
            <a:ext cx="5740659" cy="691515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bg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vi-VN" sz="3200" b="1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Quang </a:t>
            </a:r>
            <a:r>
              <a:rPr lang="vi-VN" sz="3200" b="1" i="0" dirty="0" err="1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vi-VN" sz="3200" b="1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0" dirty="0" err="1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vi-VN" sz="3200" b="1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Tương </a:t>
            </a:r>
            <a:r>
              <a:rPr lang="vi-VN" sz="3200" b="1" i="0" dirty="0" err="1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endParaRPr lang="vi-VN" sz="3200" b="1" i="0" dirty="0">
              <a:solidFill>
                <a:srgbClr val="1E293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3200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vi-VN" sz="3200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Sáng</a:t>
            </a:r>
            <a:r>
              <a:rPr lang="vi-VN" sz="3200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/Tương </a:t>
            </a:r>
            <a:r>
              <a:rPr lang="vi-VN" sz="3200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vi-VN" sz="3200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Thay 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ngẫu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nhiên ±15%.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3200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CLAHE: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rõ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nhu mô 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phổi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3200" i="0" dirty="0" err="1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ImageNet</a:t>
            </a:r>
            <a:r>
              <a:rPr lang="vi-VN" sz="3200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theo 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vi-VN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vi-VN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 i="0" dirty="0">
              <a:solidFill>
                <a:srgbClr val="47556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vi-VN" sz="3200" i="0" dirty="0">
              <a:solidFill>
                <a:srgbClr val="47556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689719-2BC3-4CC4-961E-79727CFEEAB8}"/>
              </a:ext>
            </a:extLst>
          </p:cNvPr>
          <p:cNvSpPr/>
          <p:nvPr/>
        </p:nvSpPr>
        <p:spPr>
          <a:xfrm>
            <a:off x="14785086" y="3028950"/>
            <a:ext cx="5514975" cy="691515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bg1"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br>
              <a:rPr lang="en-US" sz="3400" b="1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i="0" dirty="0" err="1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Nhiễu</a:t>
            </a:r>
            <a:r>
              <a:rPr lang="en-US" sz="3200" b="1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3200" b="1" i="0" dirty="0" err="1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lang="en-US" sz="3200" b="1" i="0" dirty="0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i="0" dirty="0" err="1">
                <a:solidFill>
                  <a:srgbClr val="1E293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Vùng</a:t>
            </a:r>
            <a:endParaRPr lang="en-US" sz="3200" b="1" i="0" dirty="0">
              <a:solidFill>
                <a:srgbClr val="1E293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Gaussian Blur/Noise: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Giả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nhiễu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hạt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rung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mờ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i="0" dirty="0">
                <a:solidFill>
                  <a:srgbClr val="0F17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Coarse Dropout: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Che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khuất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1-3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vùng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en-US" sz="32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2-8%).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4755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200" i="0" dirty="0">
              <a:solidFill>
                <a:srgbClr val="47556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197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0297"/>
            <a:ext cx="21315364" cy="1010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04727" y="12547555"/>
            <a:ext cx="72409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/>
                <a:cs typeface="Arial"/>
              </a:rPr>
              <a:t>NGUYỂN ĐÀO NGUYÊN GIÁP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0567" y="12547555"/>
            <a:ext cx="3544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25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8" y="827297"/>
            <a:ext cx="1387591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FF6600"/>
                </a:solidFill>
                <a:latin typeface="Arial"/>
                <a:cs typeface="Arial"/>
              </a:rPr>
              <a:t>KIẾN TRÚC HYBRID DENSENET-VIT</a:t>
            </a:r>
          </a:p>
          <a:p>
            <a:endParaRPr lang="en-US" sz="2400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45" y="1585221"/>
            <a:ext cx="11253216" cy="33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9465E8-8595-4972-83C0-DB2A3A453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4714" y="1865237"/>
            <a:ext cx="7711759" cy="1002540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B4A621-6856-441D-AA2A-78FA5092C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69" y="3246669"/>
            <a:ext cx="12227482" cy="4704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Đề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xuất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trúc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Hybrid: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nền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tảng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tối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ưu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X-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cỡ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bình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(DenseNet121):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Trích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xuất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tinh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lọc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đặc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cục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bộ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bệnh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mờ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 Encoder: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Self-Attention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toàn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cục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Token),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bù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đắp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tầm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nhìn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hạn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chế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CNN.</a:t>
            </a:r>
          </a:p>
        </p:txBody>
      </p:sp>
    </p:spTree>
    <p:extLst>
      <p:ext uri="{BB962C8B-B14F-4D97-AF65-F5344CB8AC3E}">
        <p14:creationId xmlns:p14="http://schemas.microsoft.com/office/powerpoint/2010/main" val="398209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0297"/>
            <a:ext cx="21315364" cy="1010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04727" y="12547555"/>
            <a:ext cx="72409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/>
                <a:cs typeface="Arial"/>
              </a:rPr>
              <a:t>NGUYỂN ĐÀO NGUYÊN GIÁP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0567" y="12547555"/>
            <a:ext cx="3544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25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98323" y="725286"/>
            <a:ext cx="822303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FF6600"/>
                </a:solidFill>
                <a:latin typeface="Arial"/>
                <a:cs typeface="Arial"/>
              </a:rPr>
              <a:t>CẤU HÌNH HUẤN LUYỆN</a:t>
            </a:r>
          </a:p>
          <a:p>
            <a:endParaRPr lang="en-US" sz="2400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45" y="1585221"/>
            <a:ext cx="11253216" cy="335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17CAFE-791D-4B1B-B068-5675A2383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3169" y="3241695"/>
            <a:ext cx="15669023" cy="627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Tối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ưu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AdamW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(LR=5e-5, Weight Decay=0.01)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kết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Warmup &amp; Cosine Annealing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giúp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hội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tụ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mượt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3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mất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bằng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CrossEntropyLoss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tích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 Weights (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ưu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tiên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nhãn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Normal)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Label Smoothing (0.05)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tránh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thiên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lệch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3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Chống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quá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khớp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(Overfitting):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Huấn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luyện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tối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đa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30 Epochs,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Early Stopping (Patience=7)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trên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tập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Validation.</a:t>
            </a:r>
          </a:p>
        </p:txBody>
      </p:sp>
    </p:spTree>
    <p:extLst>
      <p:ext uri="{BB962C8B-B14F-4D97-AF65-F5344CB8AC3E}">
        <p14:creationId xmlns:p14="http://schemas.microsoft.com/office/powerpoint/2010/main" val="2414921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0297"/>
            <a:ext cx="21315364" cy="1010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04727" y="12547555"/>
            <a:ext cx="72409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/>
                <a:cs typeface="Arial"/>
              </a:rPr>
              <a:t>NGUYỂN ĐÀO NGUYÊN GIÁP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0567" y="12547555"/>
            <a:ext cx="3544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25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35237" y="827931"/>
            <a:ext cx="822303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FF6600"/>
                </a:solidFill>
                <a:latin typeface="Arial"/>
                <a:cs typeface="Arial"/>
              </a:rPr>
              <a:t>ĐÁNH GIÁ MÔ HÌNH</a:t>
            </a:r>
          </a:p>
          <a:p>
            <a:endParaRPr lang="en-US" sz="2400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45" y="1585221"/>
            <a:ext cx="11253216" cy="33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92BB47-DD44-42E6-BCE8-35FEEF85B154}"/>
              </a:ext>
            </a:extLst>
          </p:cNvPr>
          <p:cNvSpPr txBox="1"/>
          <p:nvPr/>
        </p:nvSpPr>
        <p:spPr>
          <a:xfrm>
            <a:off x="10145694" y="2980845"/>
            <a:ext cx="10658474" cy="2084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/>
              <a:t>- </a:t>
            </a:r>
            <a:r>
              <a:rPr lang="vi-VN" sz="3000" dirty="0"/>
              <a:t>Trên </a:t>
            </a:r>
            <a:r>
              <a:rPr lang="vi-VN" sz="3000" dirty="0" err="1"/>
              <a:t>tập</a:t>
            </a:r>
            <a:r>
              <a:rPr lang="vi-VN" sz="3000" dirty="0"/>
              <a:t> </a:t>
            </a:r>
            <a:r>
              <a:rPr lang="vi-VN" sz="3000" dirty="0" err="1"/>
              <a:t>Test</a:t>
            </a:r>
            <a:r>
              <a:rPr lang="vi-VN" sz="3000" dirty="0"/>
              <a:t> </a:t>
            </a:r>
            <a:r>
              <a:rPr lang="vi-VN" sz="3000" dirty="0" err="1"/>
              <a:t>độc</a:t>
            </a:r>
            <a:r>
              <a:rPr lang="vi-VN" sz="3000" dirty="0"/>
              <a:t> </a:t>
            </a:r>
            <a:r>
              <a:rPr lang="vi-VN" sz="3000" dirty="0" err="1"/>
              <a:t>lập</a:t>
            </a:r>
            <a:r>
              <a:rPr lang="vi-VN" sz="3000" dirty="0"/>
              <a:t> (586 </a:t>
            </a:r>
            <a:r>
              <a:rPr lang="vi-VN" sz="3000" dirty="0" err="1"/>
              <a:t>mẫu</a:t>
            </a:r>
            <a:r>
              <a:rPr lang="vi-VN" sz="3000" dirty="0"/>
              <a:t> nguyên </a:t>
            </a:r>
            <a:r>
              <a:rPr lang="vi-VN" sz="3000" dirty="0" err="1"/>
              <a:t>thủy</a:t>
            </a:r>
            <a:r>
              <a:rPr lang="vi-VN" sz="3000" dirty="0"/>
              <a:t>), </a:t>
            </a:r>
            <a:r>
              <a:rPr lang="vi-VN" sz="3000" dirty="0" err="1"/>
              <a:t>hệ</a:t>
            </a:r>
            <a:r>
              <a:rPr lang="vi-VN" sz="3000" dirty="0"/>
              <a:t> </a:t>
            </a:r>
            <a:r>
              <a:rPr lang="vi-VN" sz="3000" dirty="0" err="1"/>
              <a:t>thống</a:t>
            </a:r>
            <a:r>
              <a:rPr lang="vi-VN" sz="3000" dirty="0"/>
              <a:t> </a:t>
            </a:r>
            <a:r>
              <a:rPr lang="vi-VN" sz="3000" dirty="0" err="1"/>
              <a:t>đạt</a:t>
            </a:r>
            <a:r>
              <a:rPr lang="vi-VN" sz="3000" dirty="0"/>
              <a:t> </a:t>
            </a:r>
            <a:r>
              <a:rPr lang="vi-VN" sz="3000" dirty="0" err="1"/>
              <a:t>Độ</a:t>
            </a:r>
            <a:r>
              <a:rPr lang="vi-VN" sz="3000" dirty="0"/>
              <a:t> </a:t>
            </a:r>
            <a:r>
              <a:rPr lang="vi-VN" sz="3000" dirty="0" err="1"/>
              <a:t>nhạy</a:t>
            </a:r>
            <a:r>
              <a:rPr lang="vi-VN" sz="3000" dirty="0"/>
              <a:t> (</a:t>
            </a:r>
            <a:r>
              <a:rPr lang="vi-VN" sz="3000" dirty="0" err="1"/>
              <a:t>Recall</a:t>
            </a:r>
            <a:r>
              <a:rPr lang="vi-VN" sz="3000" dirty="0"/>
              <a:t>/</a:t>
            </a:r>
            <a:r>
              <a:rPr lang="vi-VN" sz="3000" dirty="0" err="1"/>
              <a:t>Sensitivity</a:t>
            </a:r>
            <a:r>
              <a:rPr lang="vi-VN" sz="3000" dirty="0"/>
              <a:t>) </a:t>
            </a:r>
            <a:r>
              <a:rPr lang="vi-VN" sz="3000" dirty="0" err="1"/>
              <a:t>cực</a:t>
            </a:r>
            <a:r>
              <a:rPr lang="vi-VN" sz="3000" dirty="0"/>
              <a:t> cao lên </a:t>
            </a:r>
            <a:r>
              <a:rPr lang="vi-VN" sz="3000" dirty="0" err="1"/>
              <a:t>tới</a:t>
            </a:r>
            <a:r>
              <a:rPr lang="vi-VN" sz="3000" dirty="0"/>
              <a:t> 98.36%, </a:t>
            </a:r>
            <a:r>
              <a:rPr lang="vi-VN" sz="3000" dirty="0" err="1"/>
              <a:t>khẳng</a:t>
            </a:r>
            <a:r>
              <a:rPr lang="vi-VN" sz="3000" dirty="0"/>
              <a:t> </a:t>
            </a:r>
            <a:r>
              <a:rPr lang="vi-VN" sz="3000" dirty="0" err="1"/>
              <a:t>định</a:t>
            </a:r>
            <a:r>
              <a:rPr lang="vi-VN" sz="3000" dirty="0"/>
              <a:t> năng </a:t>
            </a:r>
            <a:r>
              <a:rPr lang="vi-VN" sz="3000" dirty="0" err="1"/>
              <a:t>lực</a:t>
            </a:r>
            <a:r>
              <a:rPr lang="vi-VN" sz="3000" dirty="0"/>
              <a:t> </a:t>
            </a:r>
            <a:r>
              <a:rPr lang="vi-VN" sz="3000" dirty="0" err="1"/>
              <a:t>vượt</a:t>
            </a:r>
            <a:r>
              <a:rPr lang="vi-VN" sz="3000" dirty="0"/>
              <a:t> </a:t>
            </a:r>
            <a:r>
              <a:rPr lang="vi-VN" sz="3000" dirty="0" err="1"/>
              <a:t>trội</a:t>
            </a:r>
            <a:r>
              <a:rPr lang="vi-VN" sz="3000" dirty="0"/>
              <a:t> trong </a:t>
            </a:r>
            <a:r>
              <a:rPr lang="vi-VN" sz="3000" dirty="0" err="1"/>
              <a:t>việc</a:t>
            </a:r>
            <a:r>
              <a:rPr lang="vi-VN" sz="3000" dirty="0"/>
              <a:t> truy </a:t>
            </a:r>
            <a:r>
              <a:rPr lang="vi-VN" sz="3000" dirty="0" err="1"/>
              <a:t>vết</a:t>
            </a:r>
            <a:r>
              <a:rPr lang="vi-VN" sz="3000" dirty="0"/>
              <a:t> ca </a:t>
            </a:r>
            <a:r>
              <a:rPr lang="vi-VN" sz="3000" dirty="0" err="1"/>
              <a:t>bệnh</a:t>
            </a:r>
            <a:r>
              <a:rPr lang="vi-VN" sz="3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C3DF9E-E5DB-4983-A95C-135C86C63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071" y="2242344"/>
            <a:ext cx="7328774" cy="3756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2222A5-A963-4041-A13C-69A418DB38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8072" y="7231483"/>
            <a:ext cx="7328774" cy="34760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45F41E6-A485-4A26-9839-E4FB3D1432D5}"/>
              </a:ext>
            </a:extLst>
          </p:cNvPr>
          <p:cNvSpPr txBox="1"/>
          <p:nvPr/>
        </p:nvSpPr>
        <p:spPr>
          <a:xfrm>
            <a:off x="10145694" y="6661150"/>
            <a:ext cx="10655558" cy="2776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vi-VN" sz="3000" dirty="0"/>
          </a:p>
          <a:p>
            <a:pPr>
              <a:lnSpc>
                <a:spcPct val="150000"/>
              </a:lnSpc>
            </a:pPr>
            <a:r>
              <a:rPr lang="en-US" sz="3000" dirty="0"/>
              <a:t>- </a:t>
            </a:r>
            <a:r>
              <a:rPr lang="vi-VN" sz="3000" dirty="0" err="1"/>
              <a:t>Tỷ</a:t>
            </a:r>
            <a:r>
              <a:rPr lang="vi-VN" sz="3000" dirty="0"/>
              <a:t> </a:t>
            </a:r>
            <a:r>
              <a:rPr lang="vi-VN" sz="3000" dirty="0" err="1"/>
              <a:t>lệ</a:t>
            </a:r>
            <a:r>
              <a:rPr lang="vi-VN" sz="3000" dirty="0"/>
              <a:t> </a:t>
            </a:r>
            <a:r>
              <a:rPr lang="vi-VN" sz="3000" dirty="0" err="1"/>
              <a:t>bỏ</a:t>
            </a:r>
            <a:r>
              <a:rPr lang="vi-VN" sz="3000" dirty="0"/>
              <a:t> </a:t>
            </a:r>
            <a:r>
              <a:rPr lang="vi-VN" sz="3000" dirty="0" err="1"/>
              <a:t>sót</a:t>
            </a:r>
            <a:r>
              <a:rPr lang="vi-VN" sz="3000" dirty="0"/>
              <a:t> (Âm </a:t>
            </a:r>
            <a:r>
              <a:rPr lang="vi-VN" sz="3000" dirty="0" err="1"/>
              <a:t>tính</a:t>
            </a:r>
            <a:r>
              <a:rPr lang="vi-VN" sz="3000" dirty="0"/>
              <a:t> </a:t>
            </a:r>
            <a:r>
              <a:rPr lang="vi-VN" sz="3000" dirty="0" err="1"/>
              <a:t>giả</a:t>
            </a:r>
            <a:r>
              <a:rPr lang="vi-VN" sz="3000" dirty="0"/>
              <a:t>) </a:t>
            </a:r>
            <a:r>
              <a:rPr lang="vi-VN" sz="3000" dirty="0" err="1"/>
              <a:t>được</a:t>
            </a:r>
            <a:r>
              <a:rPr lang="vi-VN" sz="3000" dirty="0"/>
              <a:t> </a:t>
            </a:r>
            <a:r>
              <a:rPr lang="vi-VN" sz="3000" dirty="0" err="1"/>
              <a:t>nén</a:t>
            </a:r>
            <a:r>
              <a:rPr lang="vi-VN" sz="3000" dirty="0"/>
              <a:t> </a:t>
            </a:r>
            <a:r>
              <a:rPr lang="vi-VN" sz="3000" dirty="0" err="1"/>
              <a:t>xuống</a:t>
            </a:r>
            <a:r>
              <a:rPr lang="vi-VN" sz="3000" dirty="0"/>
              <a:t> </a:t>
            </a:r>
            <a:r>
              <a:rPr lang="vi-VN" sz="3000" dirty="0" err="1"/>
              <a:t>chỉ</a:t>
            </a:r>
            <a:r>
              <a:rPr lang="vi-VN" sz="3000" dirty="0"/>
              <a:t> </a:t>
            </a:r>
            <a:r>
              <a:rPr lang="vi-VN" sz="3000" dirty="0" err="1"/>
              <a:t>còn</a:t>
            </a:r>
            <a:r>
              <a:rPr lang="vi-VN" sz="3000" dirty="0"/>
              <a:t> 1.64%. </a:t>
            </a:r>
            <a:r>
              <a:rPr lang="vi-VN" sz="3000" dirty="0" err="1"/>
              <a:t>Đồng</a:t>
            </a:r>
            <a:r>
              <a:rPr lang="vi-VN" sz="3000" dirty="0"/>
              <a:t> </a:t>
            </a:r>
            <a:r>
              <a:rPr lang="vi-VN" sz="3000" dirty="0" err="1"/>
              <a:t>thời</a:t>
            </a:r>
            <a:r>
              <a:rPr lang="vi-VN" sz="3000" dirty="0"/>
              <a:t>, </a:t>
            </a:r>
            <a:r>
              <a:rPr lang="vi-VN" sz="3000" dirty="0" err="1"/>
              <a:t>Độ</a:t>
            </a:r>
            <a:r>
              <a:rPr lang="vi-VN" sz="3000" dirty="0"/>
              <a:t> </a:t>
            </a:r>
            <a:r>
              <a:rPr lang="vi-VN" sz="3000" dirty="0" err="1"/>
              <a:t>đặc</a:t>
            </a:r>
            <a:r>
              <a:rPr lang="vi-VN" sz="3000" dirty="0"/>
              <a:t> </a:t>
            </a:r>
            <a:r>
              <a:rPr lang="vi-VN" sz="3000" dirty="0" err="1"/>
              <a:t>hiệu</a:t>
            </a:r>
            <a:r>
              <a:rPr lang="vi-VN" sz="3000" dirty="0"/>
              <a:t> (</a:t>
            </a:r>
            <a:r>
              <a:rPr lang="vi-VN" sz="3000" dirty="0" err="1"/>
              <a:t>Specificity</a:t>
            </a:r>
            <a:r>
              <a:rPr lang="vi-VN" sz="3000" dirty="0"/>
              <a:t>) </a:t>
            </a:r>
            <a:r>
              <a:rPr lang="vi-VN" sz="3000" dirty="0" err="1"/>
              <a:t>đạt</a:t>
            </a:r>
            <a:r>
              <a:rPr lang="vi-VN" sz="3000" dirty="0"/>
              <a:t> 96.86%, </a:t>
            </a:r>
            <a:r>
              <a:rPr lang="vi-VN" sz="3000" dirty="0" err="1"/>
              <a:t>giảm</a:t>
            </a:r>
            <a:r>
              <a:rPr lang="vi-VN" sz="3000" dirty="0"/>
              <a:t> </a:t>
            </a:r>
            <a:r>
              <a:rPr lang="vi-VN" sz="3000" dirty="0" err="1"/>
              <a:t>thiểu</a:t>
            </a:r>
            <a:r>
              <a:rPr lang="vi-VN" sz="3000" dirty="0"/>
              <a:t> </a:t>
            </a:r>
            <a:r>
              <a:rPr lang="vi-VN" sz="3000" dirty="0" err="1"/>
              <a:t>các</a:t>
            </a:r>
            <a:r>
              <a:rPr lang="vi-VN" sz="3000" dirty="0"/>
              <a:t> </a:t>
            </a:r>
            <a:r>
              <a:rPr lang="vi-VN" sz="3000" dirty="0" err="1"/>
              <a:t>chỉ</a:t>
            </a:r>
            <a:r>
              <a:rPr lang="vi-VN" sz="3000" dirty="0"/>
              <a:t> </a:t>
            </a:r>
            <a:r>
              <a:rPr lang="vi-VN" sz="3000" dirty="0" err="1"/>
              <a:t>định</a:t>
            </a:r>
            <a:r>
              <a:rPr lang="vi-VN" sz="3000" dirty="0"/>
              <a:t> lâm </a:t>
            </a:r>
            <a:r>
              <a:rPr lang="vi-VN" sz="3000" dirty="0" err="1"/>
              <a:t>sàng</a:t>
            </a:r>
            <a:r>
              <a:rPr lang="vi-VN" sz="3000" dirty="0"/>
              <a:t> không </a:t>
            </a:r>
            <a:r>
              <a:rPr lang="vi-VN" sz="3000" dirty="0" err="1"/>
              <a:t>cần</a:t>
            </a:r>
            <a:r>
              <a:rPr lang="vi-VN" sz="3000" dirty="0"/>
              <a:t> </a:t>
            </a:r>
            <a:r>
              <a:rPr lang="vi-VN" sz="3000" dirty="0" err="1"/>
              <a:t>thiết</a:t>
            </a:r>
            <a:r>
              <a:rPr lang="vi-VN" sz="3000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B2DA67-9E73-443C-AB71-EC9FD8BD0BF6}"/>
              </a:ext>
            </a:extLst>
          </p:cNvPr>
          <p:cNvSpPr txBox="1"/>
          <p:nvPr/>
        </p:nvSpPr>
        <p:spPr>
          <a:xfrm>
            <a:off x="10148610" y="2141347"/>
            <a:ext cx="106555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000" b="1" dirty="0" err="1"/>
              <a:t>Tối</a:t>
            </a:r>
            <a:r>
              <a:rPr lang="vi-VN" sz="3000" b="1" dirty="0"/>
              <a:t> Ưu </a:t>
            </a:r>
            <a:r>
              <a:rPr lang="vi-VN" sz="3000" b="1" dirty="0" err="1"/>
              <a:t>Sàng</a:t>
            </a:r>
            <a:r>
              <a:rPr lang="vi-VN" sz="3000" b="1" dirty="0"/>
              <a:t> </a:t>
            </a:r>
            <a:r>
              <a:rPr lang="vi-VN" sz="3000" b="1" dirty="0" err="1"/>
              <a:t>Lọc</a:t>
            </a:r>
            <a:r>
              <a:rPr lang="vi-VN" sz="3000" b="1" dirty="0"/>
              <a:t> Y Khoa</a:t>
            </a:r>
          </a:p>
        </p:txBody>
      </p:sp>
    </p:spTree>
    <p:extLst>
      <p:ext uri="{BB962C8B-B14F-4D97-AF65-F5344CB8AC3E}">
        <p14:creationId xmlns:p14="http://schemas.microsoft.com/office/powerpoint/2010/main" val="88501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0297"/>
            <a:ext cx="21315364" cy="1010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04727" y="12547555"/>
            <a:ext cx="72409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/>
                <a:cs typeface="Arial"/>
              </a:rPr>
              <a:t>NGUYỂN ĐÀO NGUYÊN GIÁP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0567" y="12547555"/>
            <a:ext cx="3544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25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54306" y="799072"/>
            <a:ext cx="82230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FF6600"/>
                </a:solidFill>
                <a:latin typeface="Arial"/>
                <a:cs typeface="Arial"/>
              </a:rPr>
              <a:t>SO SÁNH CÁC MÔ HÌNH</a:t>
            </a:r>
          </a:p>
        </p:txBody>
      </p:sp>
      <p:pic>
        <p:nvPicPr>
          <p:cNvPr id="25" name="Picture 24" descr="Dai Nam [PPT] Template 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45" y="1585221"/>
            <a:ext cx="11253216" cy="3352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15B7C3-243B-443F-BA24-BC83224AF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999008"/>
              </p:ext>
            </p:extLst>
          </p:nvPr>
        </p:nvGraphicFramePr>
        <p:xfrm>
          <a:off x="3659744" y="2109704"/>
          <a:ext cx="15210748" cy="96454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70178">
                  <a:extLst>
                    <a:ext uri="{9D8B030D-6E8A-4147-A177-3AD203B41FA5}">
                      <a16:colId xmlns:a16="http://schemas.microsoft.com/office/drawing/2014/main" val="2683716102"/>
                    </a:ext>
                  </a:extLst>
                </a:gridCol>
                <a:gridCol w="3742775">
                  <a:extLst>
                    <a:ext uri="{9D8B030D-6E8A-4147-A177-3AD203B41FA5}">
                      <a16:colId xmlns:a16="http://schemas.microsoft.com/office/drawing/2014/main" val="2546266950"/>
                    </a:ext>
                  </a:extLst>
                </a:gridCol>
                <a:gridCol w="4378097">
                  <a:extLst>
                    <a:ext uri="{9D8B030D-6E8A-4147-A177-3AD203B41FA5}">
                      <a16:colId xmlns:a16="http://schemas.microsoft.com/office/drawing/2014/main" val="203336362"/>
                    </a:ext>
                  </a:extLst>
                </a:gridCol>
                <a:gridCol w="3919698">
                  <a:extLst>
                    <a:ext uri="{9D8B030D-6E8A-4147-A177-3AD203B41FA5}">
                      <a16:colId xmlns:a16="http://schemas.microsoft.com/office/drawing/2014/main" val="105998937"/>
                    </a:ext>
                  </a:extLst>
                </a:gridCol>
              </a:tblGrid>
              <a:tr h="1487571"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 dirty="0" err="1">
                          <a:effectLst/>
                        </a:rPr>
                        <a:t>Chỉ</a:t>
                      </a:r>
                      <a:r>
                        <a:rPr lang="en-US" sz="1300" dirty="0">
                          <a:effectLst/>
                        </a:rPr>
                        <a:t> </a:t>
                      </a:r>
                      <a:r>
                        <a:rPr lang="en-US" sz="1300" dirty="0" err="1">
                          <a:effectLst/>
                        </a:rPr>
                        <a:t>số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ViT nguyên bản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DenseNet121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Hybrid DenseNet121–ViT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320314"/>
                  </a:ext>
                </a:extLst>
              </a:tr>
              <a:tr h="95177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Số tham số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21,740,738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7,610,498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23,941,762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8545626"/>
                  </a:ext>
                </a:extLst>
              </a:tr>
              <a:tr h="149547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Thời gian / Epoch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 dirty="0">
                          <a:effectLst/>
                        </a:rPr>
                        <a:t>~128s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~124s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~135s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2813991"/>
                  </a:ext>
                </a:extLst>
              </a:tr>
              <a:tr h="95177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Accuracy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89.08%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93.00%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97.95%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5109202"/>
                  </a:ext>
                </a:extLst>
              </a:tr>
              <a:tr h="95177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Precision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93.53%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99.48 %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 dirty="0">
                          <a:effectLst/>
                        </a:rPr>
                        <a:t>98.82%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21671520"/>
                  </a:ext>
                </a:extLst>
              </a:tr>
              <a:tr h="95177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Recall 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91.33%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90.87%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98.36%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36469318"/>
                  </a:ext>
                </a:extLst>
              </a:tr>
              <a:tr h="95177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F1-Score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92.42%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94.98%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98.59%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291405"/>
                  </a:ext>
                </a:extLst>
              </a:tr>
              <a:tr h="95177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AUC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0.9459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0.9920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0.9970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3211901"/>
                  </a:ext>
                </a:extLst>
              </a:tr>
              <a:tr h="951778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Loss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0.4520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>
                          <a:effectLst/>
                        </a:rPr>
                        <a:t>0.2600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300" dirty="0">
                          <a:effectLst/>
                        </a:rPr>
                        <a:t>0.1521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7431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990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0297"/>
            <a:ext cx="21315364" cy="1010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04727" y="12547555"/>
            <a:ext cx="72409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/>
                <a:cs typeface="Arial"/>
              </a:rPr>
              <a:t>NGUYỂN ĐÀO NGUYÊN GIÁP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0567" y="12547555"/>
            <a:ext cx="3544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25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48021" y="783375"/>
            <a:ext cx="101430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FF6600"/>
                </a:solidFill>
                <a:latin typeface="Arial"/>
                <a:cs typeface="Arial"/>
              </a:rPr>
              <a:t>KHẢ NĂNG GIẢI THÍCH (XAI)</a:t>
            </a:r>
          </a:p>
        </p:txBody>
      </p:sp>
      <p:pic>
        <p:nvPicPr>
          <p:cNvPr id="25" name="Picture 24" descr="Dai Nam [PPT] Template 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45" y="1585221"/>
            <a:ext cx="11253216" cy="33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2F53AB-989F-4D03-AAB1-B804F7AA1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9975" y="4418013"/>
            <a:ext cx="9502646" cy="538845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2B691E-3EFB-4FFA-9BED-0723A6258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36" y="3339951"/>
            <a:ext cx="10401299" cy="7058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Minh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bạch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bỏ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Hộp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đen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"):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Grad-CAM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 y khoa.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Heatmap):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đạo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ngược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chập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sâu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(denseblock3)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trích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lâm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sàng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vùng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đỏ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/cam) khoanh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vùng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tổn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thương, cung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cơ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quan cho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Bác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vi-VN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sĩ</a:t>
            </a:r>
            <a:r>
              <a:rPr kumimoji="0" lang="vi-VN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3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877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0297"/>
            <a:ext cx="21315364" cy="1010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04727" y="12547555"/>
            <a:ext cx="72409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/>
                <a:cs typeface="Arial"/>
              </a:rPr>
              <a:t>NGUYỂN ĐÀO NGUYÊN GIÁP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0567" y="12547555"/>
            <a:ext cx="3544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25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4781" y="704048"/>
            <a:ext cx="1247566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FF6600"/>
                </a:solidFill>
                <a:latin typeface="Arial"/>
                <a:cs typeface="Arial"/>
              </a:rPr>
              <a:t>TRIỂN KHAI ỨNG DỤNG THỰC TẾ</a:t>
            </a:r>
          </a:p>
        </p:txBody>
      </p:sp>
      <p:pic>
        <p:nvPicPr>
          <p:cNvPr id="25" name="Picture 24" descr="Dai Nam [PPT] Template 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45" y="1585221"/>
            <a:ext cx="11253216" cy="335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E7B5572-040F-4A86-BE0A-CBC97E1BB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805" y="2528938"/>
            <a:ext cx="5057011" cy="18253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104872-40B2-415E-B424-C302744A7D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194" y="2939086"/>
            <a:ext cx="3833492" cy="10926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1053AB-EF6B-4E8E-B0CF-BA28A7E70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10567" y="2315415"/>
            <a:ext cx="2001241" cy="158828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FFBCEEE-1996-40D7-A1D9-BA624DE1C1B7}"/>
              </a:ext>
            </a:extLst>
          </p:cNvPr>
          <p:cNvSpPr txBox="1"/>
          <p:nvPr/>
        </p:nvSpPr>
        <p:spPr>
          <a:xfrm>
            <a:off x="1000125" y="4756353"/>
            <a:ext cx="622935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Backend &amp; AI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lõi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API.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X-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quang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3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kèm</a:t>
            </a: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Heatmap.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4826F7-ECBF-4831-BF45-38D4242D7853}"/>
              </a:ext>
            </a:extLst>
          </p:cNvPr>
          <p:cNvSpPr txBox="1"/>
          <p:nvPr/>
        </p:nvSpPr>
        <p:spPr>
          <a:xfrm>
            <a:off x="8029574" y="4437468"/>
            <a:ext cx="6056315" cy="4704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 App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Frontend App: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: Giao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Bác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sĩ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thao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tải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chẩn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7E4DF8-DC0B-46D6-BC98-FB0FC14C846B}"/>
              </a:ext>
            </a:extLst>
          </p:cNvPr>
          <p:cNvSpPr txBox="1"/>
          <p:nvPr/>
        </p:nvSpPr>
        <p:spPr>
          <a:xfrm>
            <a:off x="14791105" y="4437468"/>
            <a:ext cx="6229350" cy="4704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3400" b="1" dirty="0">
                <a:latin typeface="Arial" panose="020B0604020202020204" pitchFamily="34" charset="0"/>
                <a:cs typeface="Arial" panose="020B0604020202020204" pitchFamily="34" charset="0"/>
              </a:rPr>
              <a:t>Giao </a:t>
            </a:r>
            <a:r>
              <a:rPr lang="vi-VN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vi-VN" sz="3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endParaRPr lang="en-US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Portal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: Giao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màn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nhân viên y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sơ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587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0297"/>
            <a:ext cx="21315364" cy="1010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04727" y="12547555"/>
            <a:ext cx="72409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/>
                <a:cs typeface="Arial"/>
              </a:rPr>
              <a:t>NGUYỂN ĐÀO NGUYÊN GIÁP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10567" y="12547555"/>
            <a:ext cx="3544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2250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2250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34420" y="723456"/>
            <a:ext cx="82230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rgbClr val="FF6600"/>
                </a:solidFill>
                <a:latin typeface="Arial"/>
                <a:cs typeface="Arial"/>
              </a:rPr>
              <a:t>KẾT LUẬN</a:t>
            </a:r>
          </a:p>
        </p:txBody>
      </p:sp>
      <p:pic>
        <p:nvPicPr>
          <p:cNvPr id="25" name="Picture 24" descr="Dai Nam [PPT] Template 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45" y="1585221"/>
            <a:ext cx="11253216" cy="335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3B21ED-E3AB-4EF0-B715-3E5024224C63}"/>
              </a:ext>
            </a:extLst>
          </p:cNvPr>
          <p:cNvSpPr txBox="1"/>
          <p:nvPr/>
        </p:nvSpPr>
        <p:spPr>
          <a:xfrm>
            <a:off x="1306286" y="2146530"/>
            <a:ext cx="19370351" cy="784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vi-VN" sz="3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vi-VN" sz="3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vi-VN" sz="3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endParaRPr lang="en-US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Nghiên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xây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khai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công trên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mô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lai DenseNet121-ViT (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97.95%, âm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giả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1.64%),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Grad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-CAM.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vi-VN" sz="3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vi-VN" sz="3400" b="1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vi-VN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vi-VN" sz="3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vi-VN" sz="3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endParaRPr lang="en-US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mang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sàng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lọc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ban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chưa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thay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lâm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sàng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bác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sĩ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huấn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luyện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đa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tăng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vững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chãi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tục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ưu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nén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tỷ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lệ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bỏ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sót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ca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xuống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4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vi-VN" sz="3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570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i Nam [PPT] Template 0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2596"/>
            <a:ext cx="21310809" cy="13322300"/>
          </a:xfrm>
          <a:prstGeom prst="rect">
            <a:avLst/>
          </a:prstGeom>
        </p:spPr>
      </p:pic>
      <p:pic>
        <p:nvPicPr>
          <p:cNvPr id="3" name="Picture 2" descr="Dai Nam [PPT] Template 0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11343"/>
            <a:ext cx="21315363" cy="1010957"/>
          </a:xfrm>
          <a:prstGeom prst="rect">
            <a:avLst/>
          </a:prstGeom>
        </p:spPr>
      </p:pic>
      <p:pic>
        <p:nvPicPr>
          <p:cNvPr id="4" name="Picture 3" descr="Dai Nam [PPT] Template 0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41235" cy="13322300"/>
          </a:xfrm>
          <a:prstGeom prst="rect">
            <a:avLst/>
          </a:prstGeom>
        </p:spPr>
      </p:pic>
      <p:pic>
        <p:nvPicPr>
          <p:cNvPr id="6" name="Picture 5" descr="Dai Nam [PPT] Template 03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"/>
            <a:ext cx="6108192" cy="12234672"/>
          </a:xfrm>
          <a:prstGeom prst="rect">
            <a:avLst/>
          </a:prstGeom>
        </p:spPr>
      </p:pic>
      <p:pic>
        <p:nvPicPr>
          <p:cNvPr id="7" name="Picture 6" descr="Dai Nam [PPT] Template 04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976" y="1083882"/>
            <a:ext cx="3889248" cy="3529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2013" y="5686789"/>
            <a:ext cx="1260535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Trân </a:t>
            </a:r>
            <a:r>
              <a:rPr lang="vi-VN" sz="66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vi-VN" sz="6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66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vi-VN" sz="6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ơn </a:t>
            </a:r>
            <a:r>
              <a:rPr lang="vi-VN" sz="66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Quý</a:t>
            </a:r>
            <a:r>
              <a:rPr lang="vi-VN" sz="6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66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Thầy</a:t>
            </a:r>
            <a:r>
              <a:rPr lang="vi-VN" sz="6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Cô </a:t>
            </a:r>
            <a:r>
              <a:rPr lang="vi-VN" sz="66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vi-VN" sz="6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66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lắng</a:t>
            </a:r>
            <a:r>
              <a:rPr lang="vi-VN" sz="6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nghe!</a:t>
            </a:r>
            <a:endParaRPr lang="en-US" sz="66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705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5059</TotalTime>
  <Words>1186</Words>
  <Application>Microsoft Office PowerPoint</Application>
  <PresentationFormat>Custom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Giap09 Giap09</cp:lastModifiedBy>
  <cp:revision>57</cp:revision>
  <dcterms:created xsi:type="dcterms:W3CDTF">2022-08-02T03:49:07Z</dcterms:created>
  <dcterms:modified xsi:type="dcterms:W3CDTF">2026-06-01T00:16:39Z</dcterms:modified>
</cp:coreProperties>
</file>